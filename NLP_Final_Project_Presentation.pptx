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2344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A365D"/>
                </a:solidFill>
                <a:latin typeface="Microsoft YaHei"/>
              </a:rPr>
              <a:t>英文摘要语料的主题建模分析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214884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5A6473"/>
                </a:solidFill>
                <a:latin typeface="Microsoft YaHei"/>
              </a:rPr>
              <a:t>NLP Final Project：数据清洗、文本预处理、LDA 主题模型与可视化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4069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232323"/>
                </a:solidFill>
                <a:latin typeface="Microsoft YaHei"/>
              </a:rPr>
              <a:t>数据规模：12195 篇英文摘要｜最终模型：LDA, K=15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A365D"/>
                </a:solidFill>
                <a:latin typeface="Microsoft YaHei"/>
              </a:rPr>
              <a:t>研究目标与整体流程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18288"/>
          </a:xfrm>
          <a:prstGeom prst="rect">
            <a:avLst/>
          </a:prstGeom>
          <a:solidFill>
            <a:srgbClr val="2F6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5212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32323"/>
                </a:solidFill>
                <a:latin typeface="Microsoft YaHei"/>
              </a:defRPr>
            </a:pPr>
            <a:r>
              <a:t>目标：从英文摘要语料中识别主要研究主题</a:t>
            </a:r>
          </a:p>
          <a:p>
            <a:pPr>
              <a:spcAft>
                <a:spcPts val="700"/>
              </a:spcAft>
              <a:defRPr sz="1800">
                <a:solidFill>
                  <a:srgbClr val="232323"/>
                </a:solidFill>
                <a:latin typeface="Microsoft YaHei"/>
              </a:defRPr>
            </a:pPr>
            <a:r>
              <a:t>方法：先进行文本清洗与矩阵构建，再使用 LDA 进行主题建模</a:t>
            </a:r>
          </a:p>
          <a:p>
            <a:pPr>
              <a:spcAft>
                <a:spcPts val="700"/>
              </a:spcAft>
              <a:defRPr sz="1800">
                <a:solidFill>
                  <a:srgbClr val="232323"/>
                </a:solidFill>
                <a:latin typeface="Microsoft YaHei"/>
              </a:defRPr>
            </a:pPr>
            <a:r>
              <a:t>输出：主题关键词、代表文档、主题占比、主题相关性和聚类图</a:t>
            </a:r>
          </a:p>
          <a:p>
            <a:pPr>
              <a:spcAft>
                <a:spcPts val="700"/>
              </a:spcAft>
              <a:defRPr sz="1800">
                <a:solidFill>
                  <a:srgbClr val="232323"/>
                </a:solidFill>
                <a:latin typeface="Microsoft YaHei"/>
              </a:defRPr>
            </a:pPr>
            <a:r>
              <a:t>最终用于支持项目报告中的 Method、Results 和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173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A365D"/>
                </a:solidFill>
                <a:latin typeface="Microsoft YaHei"/>
              </a:rPr>
              <a:t>项目流程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9659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32323"/>
                </a:solidFill>
                <a:latin typeface="Microsoft YaHei"/>
              </a:defRPr>
            </a:pPr>
            <a:r>
              <a:t>1. 原始摘要清洗</a:t>
            </a:r>
          </a:p>
          <a:p>
            <a:pPr>
              <a:spcAft>
                <a:spcPts val="700"/>
              </a:spcAft>
              <a:defRPr sz="1700">
                <a:solidFill>
                  <a:srgbClr val="232323"/>
                </a:solidFill>
                <a:latin typeface="Microsoft YaHei"/>
              </a:defRPr>
            </a:pPr>
            <a:r>
              <a:t>2. 分词、停用词过滤、词形还原</a:t>
            </a:r>
          </a:p>
          <a:p>
            <a:pPr>
              <a:spcAft>
                <a:spcPts val="700"/>
              </a:spcAft>
              <a:defRPr sz="1700">
                <a:solidFill>
                  <a:srgbClr val="232323"/>
                </a:solidFill>
                <a:latin typeface="Microsoft YaHei"/>
              </a:defRPr>
            </a:pPr>
            <a:r>
              <a:t>3. 构建 Count Matrix 和 TF-IDF Matrix</a:t>
            </a:r>
          </a:p>
          <a:p>
            <a:pPr>
              <a:spcAft>
                <a:spcPts val="700"/>
              </a:spcAft>
              <a:defRPr sz="1700">
                <a:solidFill>
                  <a:srgbClr val="232323"/>
                </a:solidFill>
                <a:latin typeface="Microsoft YaHei"/>
              </a:defRPr>
            </a:pPr>
            <a:r>
              <a:t>4. 描述性统计</a:t>
            </a:r>
          </a:p>
          <a:p>
            <a:pPr>
              <a:spcAft>
                <a:spcPts val="700"/>
              </a:spcAft>
              <a:defRPr sz="1700">
                <a:solidFill>
                  <a:srgbClr val="232323"/>
                </a:solidFill>
                <a:latin typeface="Microsoft YaHei"/>
              </a:defRPr>
            </a:pPr>
            <a:r>
              <a:t>5. LDA 建模与 K 值选择</a:t>
            </a:r>
          </a:p>
          <a:p>
            <a:pPr>
              <a:spcAft>
                <a:spcPts val="700"/>
              </a:spcAft>
              <a:defRPr sz="1700">
                <a:solidFill>
                  <a:srgbClr val="232323"/>
                </a:solidFill>
                <a:latin typeface="Microsoft YaHei"/>
              </a:defRPr>
            </a:pPr>
            <a:r>
              <a:t>6. 主题解释与可视化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A365D"/>
                </a:solidFill>
                <a:latin typeface="Microsoft YaHei"/>
              </a:rPr>
              <a:t>数据与预处理结果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18288"/>
          </a:xfrm>
          <a:prstGeom prst="rect">
            <a:avLst/>
          </a:prstGeom>
          <a:solidFill>
            <a:srgbClr val="2F6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77240" y="1234440"/>
          <a:ext cx="45720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数值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摘要数量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12195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词汇总数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23818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文档-词矩阵形状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12195 × 23818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非零元素数量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878114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稀疏度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0.996977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平均文档长度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108.39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文档长度中位数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102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806440" y="1325880"/>
            <a:ext cx="54406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32323"/>
                </a:solidFill>
                <a:latin typeface="Microsoft YaHei"/>
              </a:defRPr>
            </a:pPr>
            <a:r>
              <a:t>清洗阶段删除了 Background、Methods、Results、Conclusion 等结构化标题</a:t>
            </a:r>
          </a:p>
          <a:p>
            <a:pPr>
              <a:spcAft>
                <a:spcPts val="700"/>
              </a:spcAft>
              <a:defRPr sz="1700">
                <a:solidFill>
                  <a:srgbClr val="232323"/>
                </a:solidFill>
                <a:latin typeface="Microsoft YaHei"/>
              </a:defRPr>
            </a:pPr>
            <a:r>
              <a:t>停用词表补充了通用英文停用词和部分领域高频词</a:t>
            </a:r>
          </a:p>
          <a:p>
            <a:pPr>
              <a:spcAft>
                <a:spcPts val="700"/>
              </a:spcAft>
              <a:defRPr sz="1700">
                <a:solidFill>
                  <a:srgbClr val="232323"/>
                </a:solidFill>
                <a:latin typeface="Microsoft YaHei"/>
              </a:defRPr>
            </a:pPr>
            <a:r>
              <a:t>处理顺序调整为：词形还原后再次过滤停用词</a:t>
            </a:r>
          </a:p>
          <a:p>
            <a:pPr>
              <a:spcAft>
                <a:spcPts val="700"/>
              </a:spcAft>
              <a:defRPr sz="1700">
                <a:solidFill>
                  <a:srgbClr val="232323"/>
                </a:solidFill>
                <a:latin typeface="Microsoft YaHei"/>
              </a:defRPr>
            </a:pPr>
            <a:r>
              <a:t>最终词汇表已去除 the、and、in、study、result 等无效高频词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A365D"/>
                </a:solidFill>
                <a:latin typeface="Microsoft YaHei"/>
              </a:rPr>
              <a:t>预处理统计：高频词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18288"/>
          </a:xfrm>
          <a:prstGeom prst="rect">
            <a:avLst/>
          </a:prstGeom>
          <a:solidFill>
            <a:srgbClr val="2F6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op_words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43000"/>
            <a:ext cx="10332720" cy="826617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6327648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A6473"/>
                </a:solidFill>
                <a:latin typeface="Microsoft YaHei"/>
              </a:rPr>
              <a:t>高频词显示语料主要集中于 student、learning、teacher、program、teaching 等教育研究核心词。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A365D"/>
                </a:solidFill>
                <a:latin typeface="Microsoft YaHei"/>
              </a:rPr>
              <a:t>预处理统计：文档长度分布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18288"/>
          </a:xfrm>
          <a:prstGeom prst="rect">
            <a:avLst/>
          </a:prstGeom>
          <a:solidFill>
            <a:srgbClr val="2F6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oc_length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43000"/>
            <a:ext cx="10332720" cy="61996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6327648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A6473"/>
                </a:solidFill>
                <a:latin typeface="Microsoft YaHei"/>
              </a:rPr>
              <a:t>多数摘要预处理后长度集中在约 50-150 个词之间，整体适合进行文档级主题建模。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A365D"/>
                </a:solidFill>
                <a:latin typeface="Microsoft YaHei"/>
              </a:rPr>
              <a:t>LDA 主题模型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18288"/>
          </a:xfrm>
          <a:prstGeom prst="rect">
            <a:avLst/>
          </a:prstGeom>
          <a:solidFill>
            <a:srgbClr val="2F6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53035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32323"/>
                </a:solidFill>
                <a:latin typeface="Microsoft YaHei"/>
              </a:defRPr>
            </a:pPr>
            <a:r>
              <a:t>使用 Python sklearn 的 LatentDirichletAllocation</a:t>
            </a:r>
          </a:p>
          <a:p>
            <a:pPr>
              <a:spcAft>
                <a:spcPts val="700"/>
              </a:spcAft>
              <a:defRPr sz="1800">
                <a:solidFill>
                  <a:srgbClr val="232323"/>
                </a:solidFill>
                <a:latin typeface="Microsoft YaHei"/>
              </a:defRPr>
            </a:pPr>
            <a:r>
              <a:t>输入矩阵：Count Matrix</a:t>
            </a:r>
          </a:p>
          <a:p>
            <a:pPr>
              <a:spcAft>
                <a:spcPts val="700"/>
              </a:spcAft>
              <a:defRPr sz="1800">
                <a:solidFill>
                  <a:srgbClr val="232323"/>
                </a:solidFill>
                <a:latin typeface="Microsoft YaHei"/>
              </a:defRPr>
            </a:pPr>
            <a:r>
              <a:t>输出每个主题的高概率词</a:t>
            </a:r>
          </a:p>
          <a:p>
            <a:pPr>
              <a:spcAft>
                <a:spcPts val="700"/>
              </a:spcAft>
              <a:defRPr sz="1800">
                <a:solidFill>
                  <a:srgbClr val="232323"/>
                </a:solidFill>
                <a:latin typeface="Microsoft YaHei"/>
              </a:defRPr>
            </a:pPr>
            <a:r>
              <a:t>输出每篇摘要的主题分布</a:t>
            </a:r>
          </a:p>
          <a:p>
            <a:pPr>
              <a:spcAft>
                <a:spcPts val="700"/>
              </a:spcAft>
              <a:defRPr sz="1800">
                <a:solidFill>
                  <a:srgbClr val="232323"/>
                </a:solidFill>
                <a:latin typeface="Microsoft YaHei"/>
              </a:defRPr>
            </a:pPr>
            <a:r>
              <a:t>提取每个主题的代表文档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0" y="1325880"/>
          <a:ext cx="475488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377440"/>
              </a:tblGrid>
              <a:tr h="54864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项目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设置</a:t>
                      </a:r>
                    </a:p>
                  </a:txBody>
                  <a:tcPr>
                    <a:solidFill>
                      <a:srgbClr val="EFF4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最终模型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LDA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最终主题数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K = 15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训练迭代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max_iter = 50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随机种子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100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输出目录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32323"/>
                          </a:solidFill>
                          <a:latin typeface="Microsoft YaHei"/>
                        </a:defRPr>
                      </a:pPr>
                      <a:r>
                        <a:t>output/lda_k15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A365D"/>
                </a:solidFill>
                <a:latin typeface="Microsoft YaHei"/>
              </a:rPr>
              <a:t>主题数量 K 的选择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18288"/>
          </a:xfrm>
          <a:prstGeom prst="rect">
            <a:avLst/>
          </a:prstGeom>
          <a:solidFill>
            <a:srgbClr val="2F6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da_k_composite_s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5394960" cy="2997200"/>
          </a:xfrm>
          <a:prstGeom prst="rect">
            <a:avLst/>
          </a:prstGeom>
        </p:spPr>
      </p:pic>
      <p:pic>
        <p:nvPicPr>
          <p:cNvPr id="5" name="Picture 4" descr="lda_k_npmi_coher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188720"/>
            <a:ext cx="5212080" cy="2895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6236208"/>
            <a:ext cx="10698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A6473"/>
                </a:solidFill>
                <a:latin typeface="Microsoft YaHei"/>
              </a:rPr>
              <a:t>K=1-4 作为粗粒度参考，不参与最终选择；在 K≥5 的候选模型中，K=15 综合评分最高。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A365D"/>
                </a:solidFill>
                <a:latin typeface="Microsoft YaHei"/>
              </a:rPr>
              <a:t>为什么选择 K=15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18288"/>
          </a:xfrm>
          <a:prstGeom prst="rect">
            <a:avLst/>
          </a:prstGeom>
          <a:solidFill>
            <a:srgbClr val="2F6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32323"/>
                </a:solidFill>
                <a:latin typeface="Microsoft YaHei"/>
              </a:defRPr>
            </a:pPr>
            <a:r>
              <a:t>K=15 在合格候选模型中取得最高综合分</a:t>
            </a:r>
          </a:p>
          <a:p>
            <a:pPr>
              <a:spcAft>
                <a:spcPts val="700"/>
              </a:spcAft>
              <a:defRPr sz="2000">
                <a:solidFill>
                  <a:srgbClr val="232323"/>
                </a:solidFill>
                <a:latin typeface="Microsoft YaHei"/>
              </a:defRPr>
            </a:pPr>
            <a:r>
              <a:t>NPMI coherence 最高，说明主题内部关键词共现关系更好</a:t>
            </a:r>
          </a:p>
          <a:p>
            <a:pPr>
              <a:spcAft>
                <a:spcPts val="700"/>
              </a:spcAft>
              <a:defRPr sz="2000">
                <a:solidFill>
                  <a:srgbClr val="232323"/>
                </a:solidFill>
                <a:latin typeface="Microsoft YaHei"/>
              </a:defRPr>
            </a:pPr>
            <a:r>
              <a:t>相比 K=5 和 K=10，K=15 提供更细致的主题划分</a:t>
            </a:r>
          </a:p>
          <a:p>
            <a:pPr>
              <a:spcAft>
                <a:spcPts val="700"/>
              </a:spcAft>
              <a:defRPr sz="2000">
                <a:solidFill>
                  <a:srgbClr val="232323"/>
                </a:solidFill>
                <a:latin typeface="Microsoft YaHei"/>
              </a:defRPr>
            </a:pPr>
            <a:r>
              <a:t>相比 K=30、K=40、K=50，K=15 避免了过度碎片化</a:t>
            </a:r>
          </a:p>
          <a:p>
            <a:pPr>
              <a:spcAft>
                <a:spcPts val="700"/>
              </a:spcAft>
              <a:defRPr sz="2000">
                <a:solidFill>
                  <a:srgbClr val="232323"/>
                </a:solidFill>
                <a:latin typeface="Microsoft YaHei"/>
              </a:defRPr>
            </a:pPr>
            <a:r>
              <a:t>最终综合考虑 coherence、exclusivity、topic separation、topic diversity 和 perplexity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607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2F6FA7"/>
                </a:solidFill>
                <a:latin typeface="Microsoft YaHei"/>
              </a:rPr>
              <a:t>结论：最终采用 LDA, K=15 作为主题模型。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A365D"/>
                </a:solidFill>
                <a:latin typeface="Microsoft YaHei"/>
              </a:rPr>
              <a:t>最终识别出的 15 个主题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18288"/>
          </a:xfrm>
          <a:prstGeom prst="rect">
            <a:avLst/>
          </a:prstGeom>
          <a:solidFill>
            <a:srgbClr val="2F6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51560"/>
            <a:ext cx="557784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32323"/>
                </a:solidFill>
                <a:latin typeface="Microsoft YaHei"/>
              </a:defRPr>
            </a:pPr>
            <a:r>
              <a:t>1 技术支持的在线与协作学习设计</a:t>
            </a:r>
          </a:p>
          <a:p>
            <a:pPr>
              <a:spcAft>
                <a:spcPts val="700"/>
              </a:spcAft>
              <a:defRPr sz="1500">
                <a:solidFill>
                  <a:srgbClr val="232323"/>
                </a:solidFill>
                <a:latin typeface="Microsoft YaHei"/>
              </a:defRPr>
            </a:pPr>
            <a:r>
              <a:t>2 STEM 与工程科学教育</a:t>
            </a:r>
          </a:p>
          <a:p>
            <a:pPr>
              <a:spcAft>
                <a:spcPts val="700"/>
              </a:spcAft>
              <a:defRPr sz="1500">
                <a:solidFill>
                  <a:srgbClr val="232323"/>
                </a:solidFill>
                <a:latin typeface="Microsoft YaHei"/>
              </a:defRPr>
            </a:pPr>
            <a:r>
              <a:t>3 教师教育、课程设计与专业发展</a:t>
            </a:r>
          </a:p>
          <a:p>
            <a:pPr>
              <a:spcAft>
                <a:spcPts val="700"/>
              </a:spcAft>
              <a:defRPr sz="1500">
                <a:solidFill>
                  <a:srgbClr val="232323"/>
                </a:solidFill>
                <a:latin typeface="Microsoft YaHei"/>
              </a:defRPr>
            </a:pPr>
            <a:r>
              <a:t>4 化学与实验室科学教学</a:t>
            </a:r>
          </a:p>
          <a:p>
            <a:pPr>
              <a:spcAft>
                <a:spcPts val="700"/>
              </a:spcAft>
              <a:defRPr sz="1500">
                <a:solidFill>
                  <a:srgbClr val="232323"/>
                </a:solidFill>
                <a:latin typeface="Microsoft YaHei"/>
              </a:defRPr>
            </a:pPr>
            <a:r>
              <a:t>5 在线学习中的自我调节、动机与参与</a:t>
            </a:r>
          </a:p>
          <a:p>
            <a:pPr>
              <a:spcAft>
                <a:spcPts val="700"/>
              </a:spcAft>
              <a:defRPr sz="1500">
                <a:solidFill>
                  <a:srgbClr val="232323"/>
                </a:solidFill>
                <a:latin typeface="Microsoft YaHei"/>
              </a:defRPr>
            </a:pPr>
            <a:r>
              <a:t>6 学生成绩、测试与学习效果评估</a:t>
            </a:r>
          </a:p>
          <a:p>
            <a:pPr>
              <a:spcAft>
                <a:spcPts val="700"/>
              </a:spcAft>
              <a:defRPr sz="1500">
                <a:solidFill>
                  <a:srgbClr val="232323"/>
                </a:solidFill>
                <a:latin typeface="Microsoft YaHei"/>
              </a:defRPr>
            </a:pPr>
            <a:r>
              <a:t>7 医学、护理与临床健康教育</a:t>
            </a:r>
          </a:p>
          <a:p>
            <a:pPr>
              <a:spcAft>
                <a:spcPts val="700"/>
              </a:spcAft>
              <a:defRPr sz="1500">
                <a:solidFill>
                  <a:srgbClr val="232323"/>
                </a:solidFill>
                <a:latin typeface="Microsoft YaHei"/>
              </a:defRPr>
            </a:pPr>
            <a:r>
              <a:t>8 学业路径、职业发展与高等教育机构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5080" y="1051560"/>
            <a:ext cx="539496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32323"/>
                </a:solidFill>
                <a:latin typeface="Microsoft YaHei"/>
              </a:defRPr>
            </a:pPr>
            <a:r>
              <a:t>9 英语语言、写作与读写能力</a:t>
            </a:r>
          </a:p>
          <a:p>
            <a:pPr>
              <a:spcAft>
                <a:spcPts val="700"/>
              </a:spcAft>
              <a:defRPr sz="1500">
                <a:solidFill>
                  <a:srgbClr val="232323"/>
                </a:solidFill>
                <a:latin typeface="Microsoft YaHei"/>
              </a:defRPr>
            </a:pPr>
            <a:r>
              <a:t>10 学生健康、性别与社会心理因素</a:t>
            </a:r>
          </a:p>
          <a:p>
            <a:pPr>
              <a:spcAft>
                <a:spcPts val="700"/>
              </a:spcAft>
              <a:defRPr sz="1500">
                <a:solidFill>
                  <a:srgbClr val="232323"/>
                </a:solidFill>
                <a:latin typeface="Microsoft YaHei"/>
              </a:defRPr>
            </a:pPr>
            <a:r>
              <a:t>11 批判性思维、问题解决与身份发展</a:t>
            </a:r>
          </a:p>
          <a:p>
            <a:pPr>
              <a:spcAft>
                <a:spcPts val="700"/>
              </a:spcAft>
              <a:defRPr sz="1500">
                <a:solidFill>
                  <a:srgbClr val="232323"/>
                </a:solidFill>
                <a:latin typeface="Microsoft YaHei"/>
              </a:defRPr>
            </a:pPr>
            <a:r>
              <a:t>12 同行反馈、学术出版与文献评审</a:t>
            </a:r>
          </a:p>
          <a:p>
            <a:pPr>
              <a:spcAft>
                <a:spcPts val="700"/>
              </a:spcAft>
              <a:defRPr sz="1500">
                <a:solidFill>
                  <a:srgbClr val="232323"/>
                </a:solidFill>
                <a:latin typeface="Microsoft YaHei"/>
              </a:defRPr>
            </a:pPr>
            <a:r>
              <a:t>13 测量模型、量表验证与研究方法</a:t>
            </a:r>
          </a:p>
          <a:p>
            <a:pPr>
              <a:spcAft>
                <a:spcPts val="700"/>
              </a:spcAft>
              <a:defRPr sz="1500">
                <a:solidFill>
                  <a:srgbClr val="232323"/>
                </a:solidFill>
                <a:latin typeface="Microsoft YaHei"/>
              </a:defRPr>
            </a:pPr>
            <a:r>
              <a:t>14 住院医师、外科与医学培训评价</a:t>
            </a:r>
          </a:p>
          <a:p>
            <a:pPr>
              <a:spcAft>
                <a:spcPts val="700"/>
              </a:spcAft>
              <a:defRPr sz="1500">
                <a:solidFill>
                  <a:srgbClr val="232323"/>
                </a:solidFill>
                <a:latin typeface="Microsoft YaHei"/>
              </a:defRPr>
            </a:pPr>
            <a:r>
              <a:t>15 国际学生、中国语境与跨文化高等教育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A365D"/>
                </a:solidFill>
                <a:latin typeface="Microsoft YaHei"/>
              </a:rPr>
              <a:t>每个主题的 Top Words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18288"/>
          </a:xfrm>
          <a:prstGeom prst="rect">
            <a:avLst/>
          </a:prstGeom>
          <a:solidFill>
            <a:srgbClr val="2F6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opic_top_words_fac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11155680" cy="15339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A365D"/>
                </a:solidFill>
                <a:latin typeface="Microsoft YaHei"/>
              </a:rPr>
              <a:t>主题平均占比与主导主题分布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18288"/>
          </a:xfrm>
          <a:prstGeom prst="rect">
            <a:avLst/>
          </a:prstGeom>
          <a:solidFill>
            <a:srgbClr val="2F6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opic_prevalence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5394960" cy="2452255"/>
          </a:xfrm>
          <a:prstGeom prst="rect">
            <a:avLst/>
          </a:prstGeom>
        </p:spPr>
      </p:pic>
      <p:pic>
        <p:nvPicPr>
          <p:cNvPr id="5" name="Picture 4" descr="dominant_topic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188720"/>
            <a:ext cx="5394960" cy="245225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6217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A6473"/>
                </a:solidFill>
                <a:latin typeface="Microsoft YaHei"/>
              </a:rPr>
              <a:t>Topic 3、Topic 1、Topic 15 等主题在语料中占比较高，是该摘要集合中的核心方向。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A365D"/>
                </a:solidFill>
                <a:latin typeface="Microsoft YaHei"/>
              </a:rPr>
              <a:t>主题相关性热力图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18288"/>
          </a:xfrm>
          <a:prstGeom prst="rect">
            <a:avLst/>
          </a:prstGeom>
          <a:solidFill>
            <a:srgbClr val="2F6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opic_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960120"/>
            <a:ext cx="6483927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92440" y="1280160"/>
            <a:ext cx="3383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232323"/>
                </a:solidFill>
                <a:latin typeface="Microsoft YaHei"/>
              </a:rPr>
              <a:t>热力图展示不同主题在文档中的共现关系。
颜色越接近红色，说明两个主题在相同文档中共同出现的倾向越强；颜色越接近蓝色，说明二者更少共同出现。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A365D"/>
                </a:solidFill>
                <a:latin typeface="Microsoft YaHei"/>
              </a:rPr>
              <a:t>主题聚类树状图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18288"/>
          </a:xfrm>
          <a:prstGeom prst="rect">
            <a:avLst/>
          </a:prstGeom>
          <a:solidFill>
            <a:srgbClr val="2F6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topic_clustering_dendro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097280"/>
            <a:ext cx="10698480" cy="5760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6291072"/>
            <a:ext cx="10332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A6473"/>
                </a:solidFill>
                <a:latin typeface="Microsoft YaHei"/>
              </a:rPr>
              <a:t>树状图基于 1 - correlation 对主题进行层次聚类，用于观察哪些主题在文档层面更接近。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A365D"/>
                </a:solidFill>
                <a:latin typeface="Microsoft YaHei"/>
              </a:rPr>
              <a:t>文档-主题分布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18288"/>
          </a:xfrm>
          <a:prstGeom prst="rect">
            <a:avLst/>
          </a:prstGeom>
          <a:solidFill>
            <a:srgbClr val="2F6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ocument_topic_heatmap_samp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960120"/>
            <a:ext cx="10607040" cy="652740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8680" y="6309360"/>
            <a:ext cx="10424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5A6473"/>
                </a:solidFill>
                <a:latin typeface="Microsoft YaHei"/>
              </a:rPr>
              <a:t>每篇摘要不是只属于一个主题，而是由多个主题按比例混合组成。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A365D"/>
                </a:solidFill>
                <a:latin typeface="Microsoft YaHei"/>
              </a:rPr>
              <a:t>主要发现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18288"/>
          </a:xfrm>
          <a:prstGeom prst="rect">
            <a:avLst/>
          </a:prstGeom>
          <a:solidFill>
            <a:srgbClr val="2F6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18872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>
                <a:solidFill>
                  <a:srgbClr val="232323"/>
                </a:solidFill>
                <a:latin typeface="Microsoft YaHei"/>
              </a:defRPr>
            </a:pPr>
            <a:r>
              <a:t>语料整体以教育研究为核心，围绕学生、学习、教师、教学、课程和评估展开</a:t>
            </a:r>
          </a:p>
          <a:p>
            <a:pPr>
              <a:spcAft>
                <a:spcPts val="700"/>
              </a:spcAft>
              <a:defRPr sz="2000">
                <a:solidFill>
                  <a:srgbClr val="232323"/>
                </a:solidFill>
                <a:latin typeface="Microsoft YaHei"/>
              </a:defRPr>
            </a:pPr>
            <a:r>
              <a:t>技术支持学习、教师教育、国际高等教育和医学教育是较突出的主题方向</a:t>
            </a:r>
          </a:p>
          <a:p>
            <a:pPr>
              <a:spcAft>
                <a:spcPts val="700"/>
              </a:spcAft>
              <a:defRPr sz="2000">
                <a:solidFill>
                  <a:srgbClr val="232323"/>
                </a:solidFill>
                <a:latin typeface="Microsoft YaHei"/>
              </a:defRPr>
            </a:pPr>
            <a:r>
              <a:t>LDA 主题模型能够将摘要划分为 15 个相对清晰的研究主题</a:t>
            </a:r>
          </a:p>
          <a:p>
            <a:pPr>
              <a:spcAft>
                <a:spcPts val="700"/>
              </a:spcAft>
              <a:defRPr sz="2000">
                <a:solidFill>
                  <a:srgbClr val="232323"/>
                </a:solidFill>
                <a:latin typeface="Microsoft YaHei"/>
              </a:defRPr>
            </a:pPr>
            <a:r>
              <a:t>主题可视化显示部分主题之间存在明显关联，例如在线学习与学习动机、医学教育与住院医师培训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A365D"/>
                </a:solidFill>
                <a:latin typeface="Microsoft YaHei"/>
              </a:rPr>
              <a:t>局限与后续工作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18288"/>
          </a:xfrm>
          <a:prstGeom prst="rect">
            <a:avLst/>
          </a:prstGeom>
          <a:solidFill>
            <a:srgbClr val="2F6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14300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32323"/>
                </a:solidFill>
                <a:latin typeface="Microsoft YaHei"/>
              </a:defRPr>
            </a:pPr>
            <a:r>
              <a:t>当前数据主要包含摘要文本，缺少年份、期刊、国家等 metadata，因此无法做主题趋势分析</a:t>
            </a:r>
          </a:p>
          <a:p>
            <a:pPr>
              <a:spcAft>
                <a:spcPts val="700"/>
              </a:spcAft>
              <a:defRPr sz="1900">
                <a:solidFill>
                  <a:srgbClr val="232323"/>
                </a:solidFill>
                <a:latin typeface="Microsoft YaHei"/>
              </a:defRPr>
            </a:pPr>
            <a:r>
              <a:t>仍有少量异常词，例如 engineere、reade、nurs、sic，可继续优化词形还原和停用词表</a:t>
            </a:r>
          </a:p>
          <a:p>
            <a:pPr>
              <a:spcAft>
                <a:spcPts val="700"/>
              </a:spcAft>
              <a:defRPr sz="1900">
                <a:solidFill>
                  <a:srgbClr val="232323"/>
                </a:solidFill>
                <a:latin typeface="Microsoft YaHei"/>
              </a:defRPr>
            </a:pPr>
            <a:r>
              <a:t>如果课程要求使用 R，可以进一步用 STM 复现主题模型并输出 FREX words</a:t>
            </a:r>
          </a:p>
          <a:p>
            <a:pPr>
              <a:spcAft>
                <a:spcPts val="700"/>
              </a:spcAft>
              <a:defRPr sz="1900">
                <a:solidFill>
                  <a:srgbClr val="232323"/>
                </a:solidFill>
                <a:latin typeface="Microsoft YaHei"/>
              </a:defRPr>
            </a:pPr>
            <a:r>
              <a:t>后续报告可结合主题解释表和可视化图进一步分析主题之间的关系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1A365D"/>
                </a:solidFill>
                <a:latin typeface="Microsoft YaHei"/>
              </a:rPr>
              <a:t>结论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41248"/>
            <a:ext cx="11155680" cy="18288"/>
          </a:xfrm>
          <a:prstGeom prst="rect">
            <a:avLst/>
          </a:prstGeom>
          <a:solidFill>
            <a:srgbClr val="2F6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23444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100">
                <a:solidFill>
                  <a:srgbClr val="232323"/>
                </a:solidFill>
                <a:latin typeface="Microsoft YaHei"/>
              </a:defRPr>
            </a:pPr>
            <a:r>
              <a:t>本项目完成了从原始英文摘要到主题解释的完整 NLP 流程</a:t>
            </a:r>
          </a:p>
          <a:p>
            <a:pPr>
              <a:spcAft>
                <a:spcPts val="700"/>
              </a:spcAft>
              <a:defRPr sz="2100">
                <a:solidFill>
                  <a:srgbClr val="232323"/>
                </a:solidFill>
                <a:latin typeface="Microsoft YaHei"/>
              </a:defRPr>
            </a:pPr>
            <a:r>
              <a:t>预处理后得到 12195 篇摘要和 23818 个有效词汇</a:t>
            </a:r>
          </a:p>
          <a:p>
            <a:pPr>
              <a:spcAft>
                <a:spcPts val="700"/>
              </a:spcAft>
              <a:defRPr sz="2100">
                <a:solidFill>
                  <a:srgbClr val="232323"/>
                </a:solidFill>
                <a:latin typeface="Microsoft YaHei"/>
              </a:defRPr>
            </a:pPr>
            <a:r>
              <a:t>通过多指标比较，最终选择 LDA K=15</a:t>
            </a:r>
          </a:p>
          <a:p>
            <a:pPr>
              <a:spcAft>
                <a:spcPts val="700"/>
              </a:spcAft>
              <a:defRPr sz="2100">
                <a:solidFill>
                  <a:srgbClr val="232323"/>
                </a:solidFill>
                <a:latin typeface="Microsoft YaHei"/>
              </a:defRPr>
            </a:pPr>
            <a:r>
              <a:t>最终识别出 15 个教育研究相关主题，并完成主题命名、代表文档和可视化分析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62356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1A365D"/>
                </a:solidFill>
                <a:latin typeface="Microsoft YaHei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